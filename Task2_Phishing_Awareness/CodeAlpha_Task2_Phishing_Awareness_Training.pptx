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F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052560" y="457200"/>
            <a:ext cx="2103120" cy="2103120"/>
          </a:xfrm>
          <a:prstGeom prst="ellipse">
            <a:avLst/>
          </a:prstGeom>
          <a:solidFill>
            <a:srgbClr val="266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1828800"/>
            <a:ext cx="1554480" cy="155448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138160" y="2926080"/>
            <a:ext cx="2468880" cy="2468880"/>
          </a:xfrm>
          <a:prstGeom prst="ellipse">
            <a:avLst/>
          </a:prstGeom>
          <a:solidFill>
            <a:srgbClr val="1E3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entagon 4"/>
          <p:cNvSpPr/>
          <p:nvPr/>
        </p:nvSpPr>
        <p:spPr>
          <a:xfrm rot="10800000">
            <a:off x="9144000" y="1417320"/>
            <a:ext cx="1828800" cy="1920240"/>
          </a:xfrm>
          <a:prstGeom prst="homePlat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1874519"/>
            <a:ext cx="1371600" cy="6858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4200" b="1">
                <a:solidFill>
                  <a:srgbClr val="C13434"/>
                </a:solidFill>
                <a:latin typeface="Aptos"/>
              </a:rPr>
              <a:t>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731520"/>
            <a:ext cx="7040880" cy="4114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73DCD0"/>
                </a:solidFill>
                <a:latin typeface="Aptos"/>
              </a:rPr>
              <a:t>CODEALPHA • TASK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7315200" cy="15544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ptos"/>
              </a:rPr>
              <a:t>PHISHING
AWARENESS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3246120"/>
            <a:ext cx="6766560" cy="7315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2200" b="0">
                <a:solidFill>
                  <a:srgbClr val="D5E2F1"/>
                </a:solidFill>
                <a:latin typeface="Aptos"/>
              </a:rPr>
              <a:t>Spot the bait. Verify the sender. Protect your data.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5120640"/>
            <a:ext cx="6583680" cy="4114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ptos"/>
              </a:rPr>
              <a:t>A practical training module with examples and interactive quiz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6217920"/>
            <a:ext cx="594360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AABED5"/>
                </a:solidFill>
                <a:latin typeface="Aptos"/>
              </a:rPr>
              <a:t>Prepared for cybersecurity awareness •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515600" cy="56692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2700" b="1">
                <a:solidFill>
                  <a:srgbClr val="101F38"/>
                </a:solidFill>
                <a:latin typeface="Aptos"/>
              </a:rPr>
              <a:t>What you will learn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932688"/>
            <a:ext cx="1097280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0" y="347472"/>
            <a:ext cx="192024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/>
            <a:r>
              <a:rPr sz="900" b="1">
                <a:solidFill>
                  <a:srgbClr val="2663B0"/>
                </a:solidFill>
                <a:latin typeface="Aptos"/>
              </a:rPr>
              <a:t>01 • START 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78992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2000" b="0">
                <a:solidFill>
                  <a:srgbClr val="232F3E"/>
                </a:solidFill>
                <a:latin typeface="Aptos"/>
              </a:rPr>
              <a:t>By the end of this short session, you should be able to: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3520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920240"/>
            <a:ext cx="73152" cy="1417320"/>
          </a:xfrm>
          <a:prstGeom prst="rect">
            <a:avLst/>
          </a:prstGeom>
          <a:solidFill>
            <a:srgbClr val="266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2039112"/>
            <a:ext cx="3200400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800" b="1">
                <a:solidFill>
                  <a:srgbClr val="101F38"/>
                </a:solidFill>
                <a:latin typeface="Aptos"/>
              </a:rPr>
              <a:t>Recognize the signs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487168"/>
            <a:ext cx="3200400" cy="7772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232F3E"/>
                </a:solidFill>
                <a:latin typeface="Aptos"/>
              </a:rPr>
              <a:t>Spot suspicious senders, links, attachments, and requests.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920240"/>
            <a:ext cx="3520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920240"/>
            <a:ext cx="73152" cy="14173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2039112"/>
            <a:ext cx="3200400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800" b="1">
                <a:solidFill>
                  <a:srgbClr val="101F38"/>
                </a:solidFill>
                <a:latin typeface="Aptos"/>
              </a:rPr>
              <a:t>Understand the tactics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487168"/>
            <a:ext cx="3200400" cy="7772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232F3E"/>
                </a:solidFill>
                <a:latin typeface="Aptos"/>
              </a:rPr>
              <a:t>Identify urgency, fear, authority, curiosity, and impersonation.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920240"/>
            <a:ext cx="3520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920240"/>
            <a:ext cx="73152" cy="1417320"/>
          </a:xfrm>
          <a:prstGeom prst="rect">
            <a:avLst/>
          </a:prstGeom>
          <a:solidFill>
            <a:srgbClr val="E8A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2039112"/>
            <a:ext cx="3200400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800" b="1">
                <a:solidFill>
                  <a:srgbClr val="101F38"/>
                </a:solidFill>
                <a:latin typeface="Aptos"/>
              </a:rPr>
              <a:t>Respond safely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487168"/>
            <a:ext cx="3200400" cy="7772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232F3E"/>
                </a:solidFill>
                <a:latin typeface="Aptos"/>
              </a:rPr>
              <a:t>Verify independently, report suspicious messages, and recover quickly.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977639"/>
            <a:ext cx="10698480" cy="4572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800" b="1">
                <a:solidFill>
                  <a:srgbClr val="009688"/>
                </a:solidFill>
                <a:latin typeface="Aptos"/>
              </a:rPr>
              <a:t>CORE RULE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389120"/>
            <a:ext cx="10515600" cy="9144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2600" b="1">
                <a:solidFill>
                  <a:srgbClr val="101F38"/>
                </a:solidFill>
                <a:latin typeface="Aptos"/>
              </a:rPr>
              <a:t>Pause before you click. A message that looks familiar can still be fake.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900" b="1">
                <a:solidFill>
                  <a:srgbClr val="5E6D7E"/>
                </a:solidFill>
                <a:latin typeface="Aptos"/>
              </a:rPr>
              <a:t>PHISHING AWARENESS TRAINING • CYBERSECURITY BASICS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73952"/>
            <a:ext cx="54864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/>
            <a:r>
              <a:rPr sz="1000" b="1">
                <a:solidFill>
                  <a:srgbClr val="5E6D7E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515600" cy="56692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2700" b="1">
                <a:solidFill>
                  <a:srgbClr val="101F38"/>
                </a:solidFill>
                <a:latin typeface="Aptos"/>
              </a:rPr>
              <a:t>What is phishing?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932688"/>
            <a:ext cx="1097280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0" y="347472"/>
            <a:ext cx="192024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/>
            <a:r>
              <a:rPr sz="900" b="1">
                <a:solidFill>
                  <a:srgbClr val="2663B0"/>
                </a:solidFill>
                <a:latin typeface="Aptos"/>
              </a:rPr>
              <a:t>02 • THE THREAT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5577840" cy="1417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900" b="0">
                <a:solidFill>
                  <a:srgbClr val="232F3E"/>
                </a:solidFill>
                <a:latin typeface="Aptos"/>
              </a:rPr>
              <a:t>Phishing is a social-engineering attack in which a scammer pretends to be a trusted person or organization to make you reveal information, open a harmful file, or approve an action.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37960" y="1325880"/>
            <a:ext cx="48006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37960" y="1325880"/>
            <a:ext cx="73152" cy="1097280"/>
          </a:xfrm>
          <a:prstGeom prst="rect">
            <a:avLst/>
          </a:prstGeom>
          <a:solidFill>
            <a:srgbClr val="C13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20840" y="1444752"/>
            <a:ext cx="4480560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800" b="1">
                <a:solidFill>
                  <a:srgbClr val="101F38"/>
                </a:solidFill>
                <a:latin typeface="Aptos"/>
              </a:rPr>
              <a:t>Email phishing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1892807"/>
            <a:ext cx="4480560" cy="4572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232F3E"/>
                </a:solidFill>
                <a:latin typeface="Aptos"/>
              </a:rPr>
              <a:t>Fake delivery notices, invoices, password resets, or HR messages.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37960" y="2697480"/>
            <a:ext cx="48006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37960" y="2697480"/>
            <a:ext cx="73152" cy="1097280"/>
          </a:xfrm>
          <a:prstGeom prst="rect">
            <a:avLst/>
          </a:prstGeom>
          <a:solidFill>
            <a:srgbClr val="E8A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2816352"/>
            <a:ext cx="4480560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800" b="1">
                <a:solidFill>
                  <a:srgbClr val="101F38"/>
                </a:solidFill>
                <a:latin typeface="Aptos"/>
              </a:rPr>
              <a:t>Smishing &amp; vishing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3264408"/>
            <a:ext cx="4480560" cy="4572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232F3E"/>
                </a:solidFill>
                <a:latin typeface="Aptos"/>
              </a:rPr>
              <a:t>Fraudulent SMS messages and phone calls that pressure you to act.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37960" y="4069080"/>
            <a:ext cx="48006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37960" y="4069080"/>
            <a:ext cx="73152" cy="10972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20840" y="4187952"/>
            <a:ext cx="4480560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800" b="1">
                <a:solidFill>
                  <a:srgbClr val="101F38"/>
                </a:solidFill>
                <a:latin typeface="Aptos"/>
              </a:rPr>
              <a:t>Spear phishing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4636008"/>
            <a:ext cx="4480560" cy="4572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232F3E"/>
                </a:solidFill>
                <a:latin typeface="Aptos"/>
              </a:rPr>
              <a:t>A tailored message using your name, role, workplace, or interests.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2971800"/>
            <a:ext cx="5303520" cy="4572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800" b="1">
                <a:solidFill>
                  <a:srgbClr val="2663B0"/>
                </a:solidFill>
                <a:latin typeface="Aptos"/>
              </a:rPr>
              <a:t>WHAT ATTACKERS WANT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429000"/>
            <a:ext cx="5303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32F3E"/>
                </a:solidFill>
                <a:latin typeface="Aptos"/>
              </a:defRPr>
            </a:pPr>
            <a:r>
              <a:t>Passwords or one-time codes</a:t>
            </a:r>
          </a:p>
          <a:p>
            <a:pPr>
              <a:spcAft>
                <a:spcPts val="800"/>
              </a:spcAft>
              <a:defRPr sz="1800">
                <a:solidFill>
                  <a:srgbClr val="232F3E"/>
                </a:solidFill>
                <a:latin typeface="Aptos"/>
              </a:defRPr>
            </a:pPr>
            <a:r>
              <a:t>Banking or personal information</a:t>
            </a:r>
          </a:p>
          <a:p>
            <a:pPr>
              <a:spcAft>
                <a:spcPts val="800"/>
              </a:spcAft>
              <a:defRPr sz="1800">
                <a:solidFill>
                  <a:srgbClr val="232F3E"/>
                </a:solidFill>
                <a:latin typeface="Aptos"/>
              </a:defRPr>
            </a:pPr>
            <a:r>
              <a:t>Malware installation or unauthorized payments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900" b="1">
                <a:solidFill>
                  <a:srgbClr val="5E6D7E"/>
                </a:solidFill>
                <a:latin typeface="Aptos"/>
              </a:rPr>
              <a:t>PHISHING AWARENESS TRAINING • CYBERSECURITY BASICS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73952"/>
            <a:ext cx="54864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/>
            <a:r>
              <a:rPr sz="1000" b="1">
                <a:solidFill>
                  <a:srgbClr val="5E6D7E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515600" cy="56692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2700" b="1">
                <a:solidFill>
                  <a:srgbClr val="101F38"/>
                </a:solidFill>
                <a:latin typeface="Aptos"/>
              </a:rPr>
              <a:t>Anatomy of a suspicious message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932688"/>
            <a:ext cx="1097280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0" y="347472"/>
            <a:ext cx="192024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/>
            <a:r>
              <a:rPr sz="900" b="1">
                <a:solidFill>
                  <a:srgbClr val="2663B0"/>
                </a:solidFill>
                <a:latin typeface="Aptos"/>
              </a:rPr>
              <a:t>03 • SPOT THE SIGNS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64922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3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5852160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800" b="1">
                <a:solidFill>
                  <a:srgbClr val="C13434"/>
                </a:solidFill>
                <a:latin typeface="Aptos"/>
              </a:rPr>
              <a:t>Subject: URGENT — Your account will be closed today!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38528"/>
            <a:ext cx="5669280" cy="29260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300" b="0">
                <a:solidFill>
                  <a:srgbClr val="5E6D7E"/>
                </a:solidFill>
                <a:latin typeface="Aptos"/>
              </a:rPr>
              <a:t>From: Support Team &lt;secure-account@helpdesk-login.example&gt;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23160"/>
            <a:ext cx="5715000" cy="11430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700" b="0">
                <a:solidFill>
                  <a:srgbClr val="232F3E"/>
                </a:solidFill>
                <a:latin typeface="Aptos"/>
              </a:rPr>
              <a:t>We detected an issue. Verify your password and one-time code immediately using the link below to avoid losing access.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767328"/>
            <a:ext cx="3749039" cy="502920"/>
          </a:xfrm>
          <a:prstGeom prst="roundRect">
            <a:avLst/>
          </a:prstGeom>
          <a:solidFill>
            <a:srgbClr val="E2E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867912"/>
            <a:ext cx="3474720" cy="25603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2663B0"/>
                </a:solidFill>
                <a:latin typeface="Aptos"/>
              </a:rPr>
              <a:t>https://account-verify.example.invalid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572000"/>
            <a:ext cx="5669280" cy="4114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E6D7E"/>
                </a:solidFill>
                <a:latin typeface="Aptos"/>
              </a:rPr>
              <a:t>Thank you, Account Security Team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1325880"/>
            <a:ext cx="3931920" cy="914400"/>
          </a:xfrm>
          <a:prstGeom prst="roundRect">
            <a:avLst/>
          </a:prstGeom>
          <a:solidFill>
            <a:srgbClr val="FDEFEF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98079" y="1325880"/>
            <a:ext cx="73152" cy="914400"/>
          </a:xfrm>
          <a:prstGeom prst="rect">
            <a:avLst/>
          </a:prstGeom>
          <a:solidFill>
            <a:srgbClr val="C13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59" y="1444752"/>
            <a:ext cx="3611879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01F38"/>
                </a:solidFill>
                <a:latin typeface="Aptos"/>
              </a:rPr>
              <a:t>1. Urgency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59" y="1892807"/>
            <a:ext cx="3611879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300" b="0">
                <a:solidFill>
                  <a:srgbClr val="232F3E"/>
                </a:solidFill>
                <a:latin typeface="Aptos"/>
              </a:rPr>
              <a:t>Threatens immediate account closure.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2468880"/>
            <a:ext cx="39319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98079" y="2468880"/>
            <a:ext cx="73152" cy="914400"/>
          </a:xfrm>
          <a:prstGeom prst="rect">
            <a:avLst/>
          </a:prstGeom>
          <a:solidFill>
            <a:srgbClr val="E8A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59" y="2587752"/>
            <a:ext cx="3611879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01F38"/>
                </a:solidFill>
                <a:latin typeface="Aptos"/>
              </a:rPr>
              <a:t>2. Unusual sender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59" y="3035808"/>
            <a:ext cx="3611879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300" b="0">
                <a:solidFill>
                  <a:srgbClr val="232F3E"/>
                </a:solidFill>
                <a:latin typeface="Aptos"/>
              </a:rPr>
              <a:t>Generic display name; suspicious address.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79" y="3611880"/>
            <a:ext cx="39319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98079" y="3611880"/>
            <a:ext cx="73152" cy="9144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59" y="3730752"/>
            <a:ext cx="3611879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01F38"/>
                </a:solidFill>
                <a:latin typeface="Aptos"/>
              </a:rPr>
              <a:t>3. Credential request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59" y="4178808"/>
            <a:ext cx="3611879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300" b="0">
                <a:solidFill>
                  <a:srgbClr val="232F3E"/>
                </a:solidFill>
                <a:latin typeface="Aptos"/>
              </a:rPr>
              <a:t>Never share passwords or OTPs by email.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98079" y="4754880"/>
            <a:ext cx="39319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498079" y="4754880"/>
            <a:ext cx="73152" cy="822960"/>
          </a:xfrm>
          <a:prstGeom prst="rect">
            <a:avLst/>
          </a:prstGeom>
          <a:solidFill>
            <a:srgbClr val="266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80959" y="4873752"/>
            <a:ext cx="3611879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01F38"/>
                </a:solidFill>
                <a:latin typeface="Aptos"/>
              </a:rPr>
              <a:t>4. Risky link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59" y="5321808"/>
            <a:ext cx="3611879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300" b="0">
                <a:solidFill>
                  <a:srgbClr val="232F3E"/>
                </a:solidFill>
                <a:latin typeface="Aptos"/>
              </a:rPr>
              <a:t>Verify the destination independently.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900" b="1">
                <a:solidFill>
                  <a:srgbClr val="5E6D7E"/>
                </a:solidFill>
                <a:latin typeface="Aptos"/>
              </a:rPr>
              <a:t>PHISHING AWARENESS TRAINING • CYBERSECURITY BASICS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64240" y="6473952"/>
            <a:ext cx="54864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/>
            <a:r>
              <a:rPr sz="1000" b="1">
                <a:solidFill>
                  <a:srgbClr val="5E6D7E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515600" cy="56692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2700" b="1">
                <a:solidFill>
                  <a:srgbClr val="101F38"/>
                </a:solidFill>
                <a:latin typeface="Aptos"/>
              </a:rPr>
              <a:t>How to spot fake websites and risky links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932688"/>
            <a:ext cx="1097280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0" y="347472"/>
            <a:ext cx="192024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/>
            <a:r>
              <a:rPr sz="900" b="1">
                <a:solidFill>
                  <a:srgbClr val="2663B0"/>
                </a:solidFill>
                <a:latin typeface="Aptos"/>
              </a:rPr>
              <a:t>04 • VERIFY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352044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73152" cy="1508760"/>
          </a:xfrm>
          <a:prstGeom prst="rect">
            <a:avLst/>
          </a:prstGeom>
          <a:solidFill>
            <a:srgbClr val="266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444752"/>
            <a:ext cx="3200400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800" b="1">
                <a:solidFill>
                  <a:srgbClr val="101F38"/>
                </a:solidFill>
                <a:latin typeface="Aptos"/>
              </a:rPr>
              <a:t>Check the real domain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1892807"/>
            <a:ext cx="3200400" cy="8686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232F3E"/>
                </a:solidFill>
                <a:latin typeface="Aptos"/>
              </a:rPr>
              <a:t>Watch for misspellings, extra words, and look-alike characters.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325880"/>
            <a:ext cx="352044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325880"/>
            <a:ext cx="73152" cy="1508760"/>
          </a:xfrm>
          <a:prstGeom prst="rect">
            <a:avLst/>
          </a:prstGeom>
          <a:solidFill>
            <a:srgbClr val="E8A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444752"/>
            <a:ext cx="3200400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800" b="1">
                <a:solidFill>
                  <a:srgbClr val="101F38"/>
                </a:solidFill>
                <a:latin typeface="Aptos"/>
              </a:rPr>
              <a:t>HTTPS is not proof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1892807"/>
            <a:ext cx="3200400" cy="8686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232F3E"/>
                </a:solidFill>
                <a:latin typeface="Aptos"/>
              </a:rPr>
              <a:t>A padlock means encryption—not that the site is trustworthy.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325880"/>
            <a:ext cx="352044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325880"/>
            <a:ext cx="73152" cy="15087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444752"/>
            <a:ext cx="3200400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800" b="1">
                <a:solidFill>
                  <a:srgbClr val="101F38"/>
                </a:solidFill>
                <a:latin typeface="Aptos"/>
              </a:rPr>
              <a:t>Avoid link surprises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1892807"/>
            <a:ext cx="3200400" cy="8686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232F3E"/>
                </a:solidFill>
                <a:latin typeface="Aptos"/>
              </a:rPr>
              <a:t>Preview links carefully; navigate independently when unsure.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337560"/>
            <a:ext cx="10698480" cy="4114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800" b="1">
                <a:solidFill>
                  <a:srgbClr val="101F38"/>
                </a:solidFill>
                <a:latin typeface="Aptos"/>
              </a:rPr>
              <a:t>EXAMPLE: A LOOK-ALIKE DOMAIN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840480"/>
            <a:ext cx="5074920" cy="1188720"/>
          </a:xfrm>
          <a:prstGeom prst="roundRect">
            <a:avLst/>
          </a:prstGeom>
          <a:solidFill>
            <a:srgbClr val="EBF8F0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3840480"/>
            <a:ext cx="73152" cy="1188720"/>
          </a:xfrm>
          <a:prstGeom prst="rect">
            <a:avLst/>
          </a:prstGeom>
          <a:solidFill>
            <a:srgbClr val="2C8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959352"/>
            <a:ext cx="4754880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800" b="1">
                <a:solidFill>
                  <a:srgbClr val="101F38"/>
                </a:solidFill>
                <a:latin typeface="Aptos"/>
              </a:rPr>
              <a:t>Expected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407408"/>
            <a:ext cx="4754880" cy="5486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800" b="0">
                <a:solidFill>
                  <a:srgbClr val="232F3E"/>
                </a:solidFill>
                <a:latin typeface="Aptos"/>
              </a:rPr>
              <a:t>company.com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0" y="3840480"/>
            <a:ext cx="5074920" cy="1188720"/>
          </a:xfrm>
          <a:prstGeom prst="roundRect">
            <a:avLst/>
          </a:prstGeom>
          <a:solidFill>
            <a:srgbClr val="FDEFEF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26480" y="3840480"/>
            <a:ext cx="73152" cy="1188720"/>
          </a:xfrm>
          <a:prstGeom prst="rect">
            <a:avLst/>
          </a:prstGeom>
          <a:solidFill>
            <a:srgbClr val="C13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3959352"/>
            <a:ext cx="4754880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800" b="1">
                <a:solidFill>
                  <a:srgbClr val="101F38"/>
                </a:solidFill>
                <a:latin typeface="Aptos"/>
              </a:rPr>
              <a:t>Suspicious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4407408"/>
            <a:ext cx="4754880" cy="5486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800" b="0">
                <a:solidFill>
                  <a:srgbClr val="232F3E"/>
                </a:solidFill>
                <a:latin typeface="Aptos"/>
              </a:rPr>
              <a:t>company-login-security.example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394960"/>
            <a:ext cx="10515600" cy="5943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232F3E"/>
                </a:solidFill>
                <a:latin typeface="Aptos"/>
              </a:rPr>
              <a:t>Safer approach: open the official app or type a known address yourself. Never use a login link from an unexpected message.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900" b="1">
                <a:solidFill>
                  <a:srgbClr val="5E6D7E"/>
                </a:solidFill>
                <a:latin typeface="Aptos"/>
              </a:rPr>
              <a:t>PHISHING AWARENESS TRAINING • CYBERSECURITY BASICS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6473952"/>
            <a:ext cx="54864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/>
            <a:r>
              <a:rPr sz="1000" b="1">
                <a:solidFill>
                  <a:srgbClr val="5E6D7E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515600" cy="56692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2700" b="1">
                <a:solidFill>
                  <a:srgbClr val="101F38"/>
                </a:solidFill>
                <a:latin typeface="Aptos"/>
              </a:rPr>
              <a:t>Social-engineering tactics attackers use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932688"/>
            <a:ext cx="1097280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0" y="347472"/>
            <a:ext cx="192024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/>
            <a:r>
              <a:rPr sz="900" b="1">
                <a:solidFill>
                  <a:srgbClr val="2663B0"/>
                </a:solidFill>
                <a:latin typeface="Aptos"/>
              </a:rPr>
              <a:t>05 • THINK LIKE AN ATTACKER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3520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73152" cy="1417320"/>
          </a:xfrm>
          <a:prstGeom prst="rect">
            <a:avLst/>
          </a:prstGeom>
          <a:solidFill>
            <a:srgbClr val="C13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444752"/>
            <a:ext cx="3200400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800" b="1">
                <a:solidFill>
                  <a:srgbClr val="101F38"/>
                </a:solidFill>
                <a:latin typeface="Aptos"/>
              </a:rPr>
              <a:t>Urgency &amp; fear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1892807"/>
            <a:ext cx="3200400" cy="7772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232F3E"/>
                </a:solidFill>
                <a:latin typeface="Aptos"/>
              </a:rPr>
              <a:t>“Act in 10 minutes or your account will be deleted.”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325880"/>
            <a:ext cx="3520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325880"/>
            <a:ext cx="73152" cy="1417320"/>
          </a:xfrm>
          <a:prstGeom prst="rect">
            <a:avLst/>
          </a:prstGeom>
          <a:solidFill>
            <a:srgbClr val="E8A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444752"/>
            <a:ext cx="3200400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800" b="1">
                <a:solidFill>
                  <a:srgbClr val="101F38"/>
                </a:solidFill>
                <a:latin typeface="Aptos"/>
              </a:rPr>
              <a:t>Authority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1892807"/>
            <a:ext cx="3200400" cy="7772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232F3E"/>
                </a:solidFill>
                <a:latin typeface="Aptos"/>
              </a:rPr>
              <a:t>“I’m the CEO—buy gift cards and send the codes.”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325880"/>
            <a:ext cx="3520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325880"/>
            <a:ext cx="73152" cy="1417320"/>
          </a:xfrm>
          <a:prstGeom prst="rect">
            <a:avLst/>
          </a:prstGeom>
          <a:solidFill>
            <a:srgbClr val="266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444752"/>
            <a:ext cx="3200400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800" b="1">
                <a:solidFill>
                  <a:srgbClr val="101F38"/>
                </a:solidFill>
                <a:latin typeface="Aptos"/>
              </a:rPr>
              <a:t>Curiosity &amp; reward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1892807"/>
            <a:ext cx="3200400" cy="7772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232F3E"/>
                </a:solidFill>
                <a:latin typeface="Aptos"/>
              </a:rPr>
              <a:t>“You’ve won a prize—open the attachment.”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154680"/>
            <a:ext cx="3520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154680"/>
            <a:ext cx="73152" cy="14173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3273552"/>
            <a:ext cx="3200400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800" b="1">
                <a:solidFill>
                  <a:srgbClr val="101F38"/>
                </a:solidFill>
                <a:latin typeface="Aptos"/>
              </a:rPr>
              <a:t>Familiarity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3721608"/>
            <a:ext cx="3200400" cy="7772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232F3E"/>
                </a:solidFill>
                <a:latin typeface="Aptos"/>
              </a:rPr>
              <a:t>Impersonates a colleague, friend, bank, or delivery firm.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3154680"/>
            <a:ext cx="3520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43400" y="3154680"/>
            <a:ext cx="73152" cy="1417320"/>
          </a:xfrm>
          <a:prstGeom prst="rect">
            <a:avLst/>
          </a:prstGeom>
          <a:solidFill>
            <a:srgbClr val="C13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26280" y="3273552"/>
            <a:ext cx="3200400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800" b="1">
                <a:solidFill>
                  <a:srgbClr val="101F38"/>
                </a:solidFill>
                <a:latin typeface="Aptos"/>
              </a:rPr>
              <a:t>FOMO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3721608"/>
            <a:ext cx="3200400" cy="7772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232F3E"/>
                </a:solidFill>
                <a:latin typeface="Aptos"/>
              </a:rPr>
              <a:t>“Last chance to claim your refund or bonus.”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3154680"/>
            <a:ext cx="3520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46720" y="3154680"/>
            <a:ext cx="73152" cy="1417320"/>
          </a:xfrm>
          <a:prstGeom prst="rect">
            <a:avLst/>
          </a:prstGeom>
          <a:solidFill>
            <a:srgbClr val="E8A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0" y="3273552"/>
            <a:ext cx="3200400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800" b="1">
                <a:solidFill>
                  <a:srgbClr val="101F38"/>
                </a:solidFill>
                <a:latin typeface="Aptos"/>
              </a:rPr>
              <a:t>Secrecy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3721608"/>
            <a:ext cx="3200400" cy="7772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232F3E"/>
                </a:solidFill>
                <a:latin typeface="Aptos"/>
              </a:rPr>
              <a:t>“Don’t tell anyone; skip the usual approval.”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074920"/>
            <a:ext cx="10789920" cy="5943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900" b="1">
                <a:solidFill>
                  <a:srgbClr val="101F38"/>
                </a:solidFill>
                <a:latin typeface="Aptos"/>
              </a:rPr>
              <a:t>Counter-move: slow down, verify using a separate trusted channel, and follow normal approval procedures.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900" b="1">
                <a:solidFill>
                  <a:srgbClr val="5E6D7E"/>
                </a:solidFill>
                <a:latin typeface="Aptos"/>
              </a:rPr>
              <a:t>PHISHING AWARENESS TRAINING • CYBERSECURITY BASICS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64240" y="6473952"/>
            <a:ext cx="54864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/>
            <a:r>
              <a:rPr sz="1000" b="1">
                <a:solidFill>
                  <a:srgbClr val="5E6D7E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515600" cy="56692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2700" b="1">
                <a:solidFill>
                  <a:srgbClr val="101F38"/>
                </a:solidFill>
                <a:latin typeface="Aptos"/>
              </a:rPr>
              <a:t>Real-world scenario: the fake delivery alert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932688"/>
            <a:ext cx="1097280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0" y="347472"/>
            <a:ext cx="192024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/>
            <a:r>
              <a:rPr sz="900" b="1">
                <a:solidFill>
                  <a:srgbClr val="2663B0"/>
                </a:solidFill>
                <a:latin typeface="Aptos"/>
              </a:rPr>
              <a:t>06 • APPLY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07040" cy="6400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2200" b="1">
                <a:solidFill>
                  <a:srgbClr val="101F38"/>
                </a:solidFill>
                <a:latin typeface="Aptos"/>
              </a:rPr>
              <a:t>You receive a text: “Your parcel is on hold. Pay ₹25 redelivery fee now.”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029200" cy="2148840"/>
          </a:xfrm>
          <a:prstGeom prst="roundRect">
            <a:avLst/>
          </a:prstGeom>
          <a:solidFill>
            <a:srgbClr val="FDEFEF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011680"/>
            <a:ext cx="73152" cy="2148840"/>
          </a:xfrm>
          <a:prstGeom prst="rect">
            <a:avLst/>
          </a:prstGeom>
          <a:solidFill>
            <a:srgbClr val="C13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30552"/>
            <a:ext cx="4709160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800" b="1">
                <a:solidFill>
                  <a:srgbClr val="101F38"/>
                </a:solidFill>
                <a:latin typeface="Aptos"/>
              </a:rPr>
              <a:t>Red flags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4709160" cy="1508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600" b="0">
                <a:solidFill>
                  <a:srgbClr val="232F3E"/>
                </a:solidFill>
                <a:latin typeface="Aptos"/>
              </a:rPr>
              <a:t>• Unexpected fee
• Shortened or unfamiliar link
• Pressure to pay quickly
• May request card details or OTP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011680"/>
            <a:ext cx="5029200" cy="2148840"/>
          </a:xfrm>
          <a:prstGeom prst="roundRect">
            <a:avLst/>
          </a:prstGeom>
          <a:solidFill>
            <a:srgbClr val="EBF8F0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2011680"/>
            <a:ext cx="73152" cy="2148840"/>
          </a:xfrm>
          <a:prstGeom prst="rect">
            <a:avLst/>
          </a:prstGeom>
          <a:solidFill>
            <a:srgbClr val="2C8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130552"/>
            <a:ext cx="4709160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800" b="1">
                <a:solidFill>
                  <a:srgbClr val="101F38"/>
                </a:solidFill>
                <a:latin typeface="Aptos"/>
              </a:rPr>
              <a:t>Safer response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578608"/>
            <a:ext cx="4709160" cy="1508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600" b="0">
                <a:solidFill>
                  <a:srgbClr val="232F3E"/>
                </a:solidFill>
                <a:latin typeface="Aptos"/>
              </a:rPr>
              <a:t>• Do not tap the link
• Check the order in the official app
• Contact support through a known channel
• Report and delete the message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617720"/>
            <a:ext cx="10424160" cy="8229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800" b="1">
                <a:solidFill>
                  <a:srgbClr val="232F3E"/>
                </a:solidFill>
                <a:latin typeface="Aptos"/>
              </a:rPr>
              <a:t>Scammers copy real brands. A logo, correct spelling, or personal detail does not prove a message is genuine.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900" b="1">
                <a:solidFill>
                  <a:srgbClr val="5E6D7E"/>
                </a:solidFill>
                <a:latin typeface="Aptos"/>
              </a:rPr>
              <a:t>PHISHING AWARENESS TRAINING • CYBERSECURITY BASICS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73952"/>
            <a:ext cx="54864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/>
            <a:r>
              <a:rPr sz="1000" b="1">
                <a:solidFill>
                  <a:srgbClr val="5E6D7E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515600" cy="56692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2700" b="1">
                <a:solidFill>
                  <a:srgbClr val="101F38"/>
                </a:solidFill>
                <a:latin typeface="Aptos"/>
              </a:rPr>
              <a:t>Best practices: a simple safety routine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932688"/>
            <a:ext cx="1097280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0" y="347472"/>
            <a:ext cx="192024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/>
            <a:r>
              <a:rPr sz="900" b="1">
                <a:solidFill>
                  <a:srgbClr val="2663B0"/>
                </a:solidFill>
                <a:latin typeface="Aptos"/>
              </a:rPr>
              <a:t>07 • PROTECT YOURSELF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1280160"/>
            <a:ext cx="502920" cy="502920"/>
          </a:xfrm>
          <a:prstGeom prst="ellipse">
            <a:avLst/>
          </a:prstGeom>
          <a:solidFill>
            <a:srgbClr val="266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53312"/>
            <a:ext cx="50292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271016"/>
            <a:ext cx="1508760" cy="329184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600" b="1">
                <a:solidFill>
                  <a:srgbClr val="101F38"/>
                </a:solidFill>
                <a:latin typeface="Aptos"/>
              </a:rPr>
              <a:t>PAUSE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271016"/>
            <a:ext cx="8138160" cy="47548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700" b="0">
                <a:solidFill>
                  <a:srgbClr val="232F3E"/>
                </a:solidFill>
                <a:latin typeface="Aptos"/>
              </a:rPr>
              <a:t>Unexpected request? Don’t act under pressure.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2212848"/>
            <a:ext cx="502920" cy="50292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286000"/>
            <a:ext cx="50292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203704"/>
            <a:ext cx="1508760" cy="329184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600" b="1">
                <a:solidFill>
                  <a:srgbClr val="101F38"/>
                </a:solidFill>
                <a:latin typeface="Aptos"/>
              </a:rPr>
              <a:t>INSPECT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2203704"/>
            <a:ext cx="8138160" cy="47548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700" b="0">
                <a:solidFill>
                  <a:srgbClr val="232F3E"/>
                </a:solidFill>
                <a:latin typeface="Aptos"/>
              </a:rPr>
              <a:t>Check sender address, domain, context, and attachments.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3145536"/>
            <a:ext cx="502920" cy="502920"/>
          </a:xfrm>
          <a:prstGeom prst="ellipse">
            <a:avLst/>
          </a:prstGeom>
          <a:solidFill>
            <a:srgbClr val="E8A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218688"/>
            <a:ext cx="50292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136392"/>
            <a:ext cx="1508760" cy="329184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600" b="1">
                <a:solidFill>
                  <a:srgbClr val="101F38"/>
                </a:solidFill>
                <a:latin typeface="Aptos"/>
              </a:rPr>
              <a:t>VERIFY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3136392"/>
            <a:ext cx="8138160" cy="47548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700" b="0">
                <a:solidFill>
                  <a:srgbClr val="232F3E"/>
                </a:solidFill>
                <a:latin typeface="Aptos"/>
              </a:rPr>
              <a:t>Use a known phone number, official app, or bookmarked site.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078224"/>
            <a:ext cx="502920" cy="502920"/>
          </a:xfrm>
          <a:prstGeom prst="ellipse">
            <a:avLst/>
          </a:prstGeom>
          <a:solidFill>
            <a:srgbClr val="266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151376"/>
            <a:ext cx="50292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069080"/>
            <a:ext cx="1508760" cy="329184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600" b="1">
                <a:solidFill>
                  <a:srgbClr val="101F38"/>
                </a:solidFill>
                <a:latin typeface="Aptos"/>
              </a:rPr>
              <a:t>PROTECT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4069080"/>
            <a:ext cx="8138160" cy="47548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700" b="0">
                <a:solidFill>
                  <a:srgbClr val="232F3E"/>
                </a:solidFill>
                <a:latin typeface="Aptos"/>
              </a:rPr>
              <a:t>Use unique passwords and MFA/passkeys.</a:t>
            </a:r>
          </a:p>
        </p:txBody>
      </p:sp>
      <p:sp>
        <p:nvSpPr>
          <p:cNvPr id="21" name="Oval 20"/>
          <p:cNvSpPr/>
          <p:nvPr/>
        </p:nvSpPr>
        <p:spPr>
          <a:xfrm>
            <a:off x="731520" y="5010912"/>
            <a:ext cx="502920" cy="502920"/>
          </a:xfrm>
          <a:prstGeom prst="ellipse">
            <a:avLst/>
          </a:prstGeom>
          <a:solidFill>
            <a:srgbClr val="2C8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084064"/>
            <a:ext cx="50292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5001768"/>
            <a:ext cx="1508760" cy="329184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600" b="1">
                <a:solidFill>
                  <a:srgbClr val="101F38"/>
                </a:solidFill>
                <a:latin typeface="Aptos"/>
              </a:rPr>
              <a:t>REPORT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5001768"/>
            <a:ext cx="8138160" cy="47548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700" b="0">
                <a:solidFill>
                  <a:srgbClr val="232F3E"/>
                </a:solidFill>
                <a:latin typeface="Aptos"/>
              </a:rPr>
              <a:t>Use your organization’s or provider’s reporting process.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6080760"/>
            <a:ext cx="1042416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500" b="1">
                <a:solidFill>
                  <a:srgbClr val="C13434"/>
                </a:solidFill>
                <a:latin typeface="Aptos"/>
              </a:rPr>
              <a:t>Never share passwords or one-time codes in response to an unexpected message or call.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900" b="1">
                <a:solidFill>
                  <a:srgbClr val="5E6D7E"/>
                </a:solidFill>
                <a:latin typeface="Aptos"/>
              </a:rPr>
              <a:t>PHISHING AWARENESS TRAINING • CYBERSECURITY BASICS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73952"/>
            <a:ext cx="54864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/>
            <a:r>
              <a:rPr sz="1000" b="1">
                <a:solidFill>
                  <a:srgbClr val="5E6D7E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515600" cy="56692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2700" b="1">
                <a:solidFill>
                  <a:srgbClr val="101F38"/>
                </a:solidFill>
                <a:latin typeface="Aptos"/>
              </a:rPr>
              <a:t>What if you clicked or shared information?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932688"/>
            <a:ext cx="1097280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0" y="347472"/>
            <a:ext cx="192024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/>
            <a:r>
              <a:rPr sz="900" b="1">
                <a:solidFill>
                  <a:srgbClr val="2663B0"/>
                </a:solidFill>
                <a:latin typeface="Aptos"/>
              </a:rPr>
              <a:t>08 • RESPOND QUICKLY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5303520" cy="1234440"/>
          </a:xfrm>
          <a:prstGeom prst="roundRect">
            <a:avLst/>
          </a:prstGeom>
          <a:solidFill>
            <a:srgbClr val="FDEFEF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371600"/>
            <a:ext cx="73152" cy="1234440"/>
          </a:xfrm>
          <a:prstGeom prst="rect">
            <a:avLst/>
          </a:prstGeom>
          <a:solidFill>
            <a:srgbClr val="C13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490472"/>
            <a:ext cx="4983480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800" b="1">
                <a:solidFill>
                  <a:srgbClr val="101F38"/>
                </a:solidFill>
                <a:latin typeface="Aptos"/>
              </a:rPr>
              <a:t>1. Stop interacting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38528"/>
            <a:ext cx="4983480" cy="5943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232F3E"/>
                </a:solidFill>
                <a:latin typeface="Aptos"/>
              </a:rPr>
              <a:t>Close the page; do not download files or approve prompts.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3035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371600"/>
            <a:ext cx="73152" cy="1234440"/>
          </a:xfrm>
          <a:prstGeom prst="rect">
            <a:avLst/>
          </a:prstGeom>
          <a:solidFill>
            <a:srgbClr val="266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490472"/>
            <a:ext cx="4983480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800" b="1">
                <a:solidFill>
                  <a:srgbClr val="101F38"/>
                </a:solidFill>
                <a:latin typeface="Aptos"/>
              </a:rPr>
              <a:t>2. Report immediately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938528"/>
            <a:ext cx="4983480" cy="5943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232F3E"/>
                </a:solidFill>
                <a:latin typeface="Aptos"/>
              </a:rPr>
              <a:t>Tell your IT/security team or the relevant service provider.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971800"/>
            <a:ext cx="53035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2971800"/>
            <a:ext cx="73152" cy="12344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090672"/>
            <a:ext cx="4983480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800" b="1">
                <a:solidFill>
                  <a:srgbClr val="101F38"/>
                </a:solidFill>
                <a:latin typeface="Aptos"/>
              </a:rPr>
              <a:t>3. Secure accounts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538728"/>
            <a:ext cx="4983480" cy="5943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232F3E"/>
                </a:solidFill>
                <a:latin typeface="Aptos"/>
              </a:rPr>
              <a:t>From a trusted device, change exposed passwords and revoke sessions; contact your bank if needed.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2971800"/>
            <a:ext cx="53035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2971800"/>
            <a:ext cx="73152" cy="1234440"/>
          </a:xfrm>
          <a:prstGeom prst="rect">
            <a:avLst/>
          </a:prstGeom>
          <a:solidFill>
            <a:srgbClr val="E8A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3090672"/>
            <a:ext cx="4983480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800" b="1">
                <a:solidFill>
                  <a:srgbClr val="101F38"/>
                </a:solidFill>
                <a:latin typeface="Aptos"/>
              </a:rPr>
              <a:t>4. Preserve 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538728"/>
            <a:ext cx="4983480" cy="5943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232F3E"/>
                </a:solidFill>
                <a:latin typeface="Aptos"/>
              </a:rPr>
              <a:t>Keep the message, sender, time, and screenshots if safe.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892040"/>
            <a:ext cx="10332720" cy="6858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2200" b="1">
                <a:solidFill>
                  <a:srgbClr val="101F38"/>
                </a:solidFill>
                <a:latin typeface="Aptos"/>
              </a:rPr>
              <a:t>Do not feel ashamed or hide it. Fast reporting can limit damage and protect others.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900" b="1">
                <a:solidFill>
                  <a:srgbClr val="5E6D7E"/>
                </a:solidFill>
                <a:latin typeface="Aptos"/>
              </a:rPr>
              <a:t>PHISHING AWARENESS TRAINING • CYBERSECURITY BASICS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4240" y="6473952"/>
            <a:ext cx="54864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/>
            <a:r>
              <a:rPr sz="1000" b="1">
                <a:solidFill>
                  <a:srgbClr val="5E6D7E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515600" cy="56692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2700" b="1">
                <a:solidFill>
                  <a:srgbClr val="101F38"/>
                </a:solidFill>
                <a:latin typeface="Aptos"/>
              </a:rPr>
              <a:t>Quick quiz • What would you do?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932688"/>
            <a:ext cx="1097280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0" y="347472"/>
            <a:ext cx="192024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/>
            <a:r>
              <a:rPr sz="900" b="1">
                <a:solidFill>
                  <a:srgbClr val="2663B0"/>
                </a:solidFill>
                <a:latin typeface="Aptos"/>
              </a:rPr>
              <a:t>09 • INTERACTIVE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789920" cy="5943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800" b="1">
                <a:solidFill>
                  <a:srgbClr val="101F38"/>
                </a:solidFill>
                <a:latin typeface="Aptos"/>
              </a:rPr>
              <a:t>Q1. Your manager urgently asks you to buy gift cards and send the codes. What is safest?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32F3E"/>
                </a:solidFill>
                <a:latin typeface="Aptos"/>
              </a:defRPr>
            </a:pPr>
            <a:r>
              <a:t>A. Do it quickly because the sender is your manager</a:t>
            </a:r>
          </a:p>
          <a:p>
            <a:pPr>
              <a:spcAft>
                <a:spcPts val="800"/>
              </a:spcAft>
              <a:defRPr sz="1600">
                <a:solidFill>
                  <a:srgbClr val="232F3E"/>
                </a:solidFill>
                <a:latin typeface="Aptos"/>
              </a:defRPr>
            </a:pPr>
            <a:r>
              <a:t>B. Reply asking which gift cards to buy</a:t>
            </a:r>
          </a:p>
          <a:p>
            <a:pPr>
              <a:spcAft>
                <a:spcPts val="800"/>
              </a:spcAft>
              <a:defRPr sz="1600">
                <a:solidFill>
                  <a:srgbClr val="232F3E"/>
                </a:solidFill>
                <a:latin typeface="Aptos"/>
              </a:defRPr>
            </a:pPr>
            <a:r>
              <a:t>C. Verify using a known phone number or separate channel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74720"/>
            <a:ext cx="10789920" cy="5943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800" b="1">
                <a:solidFill>
                  <a:srgbClr val="101F38"/>
                </a:solidFill>
                <a:latin typeface="Aptos"/>
              </a:rPr>
              <a:t>Q2. A message demands your password and OTP or your account will close. What is the strongest red flag?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069080"/>
            <a:ext cx="103327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32F3E"/>
                </a:solidFill>
                <a:latin typeface="Aptos"/>
              </a:defRPr>
            </a:pPr>
            <a:r>
              <a:t>A. It uses a company logo</a:t>
            </a:r>
          </a:p>
          <a:p>
            <a:pPr>
              <a:spcAft>
                <a:spcPts val="800"/>
              </a:spcAft>
              <a:defRPr sz="1600">
                <a:solidFill>
                  <a:srgbClr val="232F3E"/>
                </a:solidFill>
                <a:latin typeface="Aptos"/>
              </a:defRPr>
            </a:pPr>
            <a:r>
              <a:t>B. It creates urgency and asks for credentials/OTP</a:t>
            </a:r>
          </a:p>
          <a:p>
            <a:pPr>
              <a:spcAft>
                <a:spcPts val="800"/>
              </a:spcAft>
              <a:defRPr sz="1600">
                <a:solidFill>
                  <a:srgbClr val="232F3E"/>
                </a:solidFill>
                <a:latin typeface="Aptos"/>
              </a:defRPr>
            </a:pPr>
            <a:r>
              <a:t>C. It arrives during business hours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623560"/>
            <a:ext cx="1024128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500" b="1">
                <a:solidFill>
                  <a:srgbClr val="009688"/>
                </a:solidFill>
                <a:latin typeface="Aptos"/>
              </a:rPr>
              <a:t>Pause here and answer before moving to the next slide.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900" b="1">
                <a:solidFill>
                  <a:srgbClr val="5E6D7E"/>
                </a:solidFill>
                <a:latin typeface="Aptos"/>
              </a:rPr>
              <a:t>PHISHING AWARENESS TRAINING • CYBERSECURITY BASICS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473952"/>
            <a:ext cx="54864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/>
            <a:r>
              <a:rPr sz="1000" b="1">
                <a:solidFill>
                  <a:srgbClr val="5E6D7E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515600" cy="56692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2700" b="1">
                <a:solidFill>
                  <a:srgbClr val="101F38"/>
                </a:solidFill>
                <a:latin typeface="Aptos"/>
              </a:rPr>
              <a:t>Quiz answers &amp; mini-challenge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932688"/>
            <a:ext cx="1097280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0" y="347472"/>
            <a:ext cx="192024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/>
            <a:r>
              <a:rPr sz="900" b="1">
                <a:solidFill>
                  <a:srgbClr val="2663B0"/>
                </a:solidFill>
                <a:latin typeface="Aptos"/>
              </a:rPr>
              <a:t>10 • CHECK YOUR LEARNING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1143000"/>
          </a:xfrm>
          <a:prstGeom prst="roundRect">
            <a:avLst/>
          </a:prstGeom>
          <a:solidFill>
            <a:srgbClr val="EBF8F0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73152" cy="1143000"/>
          </a:xfrm>
          <a:prstGeom prst="rect">
            <a:avLst/>
          </a:prstGeom>
          <a:solidFill>
            <a:srgbClr val="2C8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90472"/>
            <a:ext cx="4800600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800" b="1">
                <a:solidFill>
                  <a:srgbClr val="101F38"/>
                </a:solidFill>
                <a:latin typeface="Aptos"/>
              </a:rPr>
              <a:t>Q1 answer: 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38528"/>
            <a:ext cx="480060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232F3E"/>
                </a:solidFill>
                <a:latin typeface="Aptos"/>
              </a:rPr>
              <a:t>Verify independently using a known contact method.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120640" cy="1143000"/>
          </a:xfrm>
          <a:prstGeom prst="roundRect">
            <a:avLst/>
          </a:prstGeom>
          <a:solidFill>
            <a:srgbClr val="EBF8F0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371600"/>
            <a:ext cx="73152" cy="1143000"/>
          </a:xfrm>
          <a:prstGeom prst="rect">
            <a:avLst/>
          </a:prstGeom>
          <a:solidFill>
            <a:srgbClr val="2C8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490472"/>
            <a:ext cx="4800600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800" b="1">
                <a:solidFill>
                  <a:srgbClr val="101F38"/>
                </a:solidFill>
                <a:latin typeface="Aptos"/>
              </a:rPr>
              <a:t>Q2 answer: 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938528"/>
            <a:ext cx="480060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232F3E"/>
                </a:solidFill>
                <a:latin typeface="Aptos"/>
              </a:rPr>
              <a:t>Urgency plus a request for passwords or one-time codes is a strong warning sign.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971800"/>
            <a:ext cx="10424160" cy="4114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2000" b="1">
                <a:solidFill>
                  <a:srgbClr val="101F38"/>
                </a:solidFill>
                <a:latin typeface="Aptos"/>
              </a:rPr>
              <a:t>MINI-CHALLENGE: INSPECT THIS MESSAGE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566160"/>
            <a:ext cx="10241280" cy="7772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800" b="0">
                <a:solidFill>
                  <a:srgbClr val="232F3E"/>
                </a:solidFill>
                <a:latin typeface="Aptos"/>
              </a:rPr>
              <a:t>“HR: View your new salary document. Sign in within 15 minutes using this link. Do not contact HR because the portal is confidential.”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572000"/>
            <a:ext cx="10149840" cy="8686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800" b="1">
                <a:solidFill>
                  <a:srgbClr val="2663B0"/>
                </a:solidFill>
                <a:latin typeface="Aptos"/>
              </a:rPr>
              <a:t>Discuss: What are the red flags? How would you verify it? Who should you report it to?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715000"/>
            <a:ext cx="1024128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E6D7E"/>
                </a:solidFill>
                <a:latin typeface="Aptos"/>
              </a:rPr>
              <a:t>Suggested red flags: urgency, payroll lure, secrecy, and an unverified link.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900" b="1">
                <a:solidFill>
                  <a:srgbClr val="5E6D7E"/>
                </a:solidFill>
                <a:latin typeface="Aptos"/>
              </a:rPr>
              <a:t>PHISHING AWARENESS TRAINING • CYBERSECURITY BASICS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73952"/>
            <a:ext cx="54864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/>
            <a:r>
              <a:rPr sz="1000" b="1">
                <a:solidFill>
                  <a:srgbClr val="5E6D7E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515600" cy="56692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2700" b="1">
                <a:solidFill>
                  <a:srgbClr val="101F38"/>
                </a:solidFill>
                <a:latin typeface="Aptos"/>
              </a:rPr>
              <a:t>Remember: stop, verify, report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932688"/>
            <a:ext cx="1097280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0" y="347472"/>
            <a:ext cx="192024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/>
            <a:r>
              <a:rPr sz="900" b="1">
                <a:solidFill>
                  <a:srgbClr val="2663B0"/>
                </a:solidFill>
                <a:latin typeface="Aptos"/>
              </a:rPr>
              <a:t>11 • 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07040" cy="6858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2500" b="1">
                <a:solidFill>
                  <a:srgbClr val="101F38"/>
                </a:solidFill>
                <a:latin typeface="Aptos"/>
              </a:rPr>
              <a:t>A convincing message is not proof of a genuine request.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86000"/>
            <a:ext cx="33832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286000"/>
            <a:ext cx="73152" cy="1143000"/>
          </a:xfrm>
          <a:prstGeom prst="rect">
            <a:avLst/>
          </a:prstGeom>
          <a:solidFill>
            <a:srgbClr val="C13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404872"/>
            <a:ext cx="3063240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800" b="1">
                <a:solidFill>
                  <a:srgbClr val="101F38"/>
                </a:solidFill>
                <a:latin typeface="Aptos"/>
              </a:rPr>
              <a:t>STOP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52928"/>
            <a:ext cx="306324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232F3E"/>
                </a:solidFill>
                <a:latin typeface="Aptos"/>
              </a:rPr>
              <a:t>Do not rush, click, pay, or share codes.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286000"/>
            <a:ext cx="33832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2286000"/>
            <a:ext cx="73152" cy="1143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2404872"/>
            <a:ext cx="3063240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800" b="1">
                <a:solidFill>
                  <a:srgbClr val="101F38"/>
                </a:solidFill>
                <a:latin typeface="Aptos"/>
              </a:rPr>
              <a:t>VERIFY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852928"/>
            <a:ext cx="306324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232F3E"/>
                </a:solidFill>
                <a:latin typeface="Aptos"/>
              </a:rPr>
              <a:t>Use an independent trusted channel.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2286000"/>
            <a:ext cx="33832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2286000"/>
            <a:ext cx="73152" cy="1143000"/>
          </a:xfrm>
          <a:prstGeom prst="rect">
            <a:avLst/>
          </a:prstGeom>
          <a:solidFill>
            <a:srgbClr val="266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2404872"/>
            <a:ext cx="3063240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800" b="1">
                <a:solidFill>
                  <a:srgbClr val="101F38"/>
                </a:solidFill>
                <a:latin typeface="Aptos"/>
              </a:rPr>
              <a:t>REPORT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852928"/>
            <a:ext cx="306324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232F3E"/>
                </a:solidFill>
                <a:latin typeface="Aptos"/>
              </a:rPr>
              <a:t>Tell the appropriate security team/provider.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886200"/>
            <a:ext cx="10515600" cy="4114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800" b="1">
                <a:solidFill>
                  <a:srgbClr val="101F38"/>
                </a:solidFill>
                <a:latin typeface="Aptos"/>
              </a:rPr>
              <a:t>FURTHER READING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343400"/>
            <a:ext cx="10698480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2663B0"/>
                </a:solidFill>
                <a:latin typeface="Aptos"/>
              </a:rPr>
              <a:t>CISA — Recognize and Report Phishing: https://www.cisa.gov/secure-our-world/recognize-and-report-phishing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800600"/>
            <a:ext cx="10698480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2663B0"/>
                </a:solidFill>
                <a:latin typeface="Aptos"/>
              </a:rPr>
              <a:t>FTC — How to Recognize and Avoid Phishing Scams: https://consumer.ftc.gov/articles/how-recognize-and-avoid-phishing-scams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257800"/>
            <a:ext cx="10698480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2663B0"/>
                </a:solidFill>
                <a:latin typeface="Aptos"/>
              </a:rPr>
              <a:t>Google Safety Center: https://safety.google/security/security-tips/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806440"/>
            <a:ext cx="1024128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E6D7E"/>
                </a:solidFill>
                <a:latin typeface="Aptos"/>
              </a:rPr>
              <a:t>Training examples are fictional, based on common phishing patterns.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900" b="1">
                <a:solidFill>
                  <a:srgbClr val="5E6D7E"/>
                </a:solidFill>
                <a:latin typeface="Aptos"/>
              </a:rPr>
              <a:t>PHISHING AWARENESS TRAINING • CYBERSECURITY BASICS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73952"/>
            <a:ext cx="54864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/>
            <a:r>
              <a:rPr sz="1000" b="1">
                <a:solidFill>
                  <a:srgbClr val="5E6D7E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